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3" r:id="rId7"/>
    <p:sldId id="262" r:id="rId8"/>
    <p:sldId id="259" r:id="rId9"/>
    <p:sldId id="260" r:id="rId10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各位老师好，我的课题是协作机器人视觉物料搬运程序设计。本项目在没有实体机械臂和相机的条件下，计划基于 ROS 2 和相关仿真工具，实现限定场景中的物料识别、位置估计、运动规划和搬运流程验证。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传统固定搬运依赖稳定位置；本课题引入视觉定位并根据检测结果规划运动。为了确保本科毕业设计可实现，范围限定为固定相机、单物料和已知工作平面，重点是程序设计与模块集成。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先在 Gazebo 构建桌面场景并获取虚拟相机图像，OpenCV 检测指定颜色物块；再将像素位置变换为工作平面位置，并通过 TF2 转入机器人基座坐标系；最后 MoveIt 2 规划路径，控制器执行或可视化轨迹，状态机记录抓取与释放阶段。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最大风险是机械臂模型与控制器联调，以及物理夹爪对物料的稳定接触。视觉颜色识别相对简单。项目采用分阶段验收，首先运行 MoveIt 2 官方示例；如果真实物理夹取插件难以稳定运行，改为明确标注的逻辑附着与释放验证，不把这种结果称为真实抓取。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毕业设计从2026年9月23日持续至2027年5月20日。前期重点完成开题与环境准备，中期分别验证视觉和运动规划，后期开展集成测试、论文撰写和答辩。预计提交 ROS 2 程序、仿真场景、测试记录与论文。指标和截图全部以最终实际运行结果为准。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9080" cy="6858000"/>
          </a:xfrm>
          <a:prstGeom prst="roundRect">
            <a:avLst>
              <a:gd name="adj" fmla="val 2697"/>
            </a:avLst>
          </a:prstGeom>
          <a:solidFill>
            <a:srgbClr val="702D42"/>
          </a:solidFill>
          <a:ln w="12700">
            <a:solidFill>
              <a:srgbClr val="702D4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69080" y="0"/>
            <a:ext cx="54864" cy="6858000"/>
          </a:xfrm>
          <a:prstGeom prst="roundRect">
            <a:avLst>
              <a:gd name="adj" fmla="val 200000"/>
            </a:avLst>
          </a:prstGeom>
          <a:solidFill>
            <a:srgbClr val="B68C71"/>
          </a:solidFill>
          <a:ln w="12700">
            <a:solidFill>
              <a:srgbClr val="B68C7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475488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福建理工大学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30352" y="1060704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9DD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本科毕业设计开题答辩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30352" y="2066544"/>
            <a:ext cx="9966960" cy="1371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协作机器人视觉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物料搬运程序设计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389120" y="3886200"/>
            <a:ext cx="69037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0160">
            <a:solidFill>
              <a:srgbClr val="D9CF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4105656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02D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研究对象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62472" y="4069080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B2A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 ROS 2 的视觉引导机械臂仿真搬运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709160" y="4645152"/>
            <a:ext cx="6126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D6B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限定颜色物块 · 固定工作平面 · 软件仿真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5797296"/>
            <a:ext cx="59436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学生：曾科     专业：网络工程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19048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E9DD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指导教师：</a:t>
            </a:r>
            <a:r>
              <a:rPr lang="zh-CN" altLang="en-US" sz="1100" dirty="0">
                <a:solidFill>
                  <a:srgbClr val="E9DD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石金</a:t>
            </a:r>
            <a:r>
              <a:rPr lang="zh-CN" altLang="en-US" sz="1100" dirty="0">
                <a:solidFill>
                  <a:srgbClr val="E9DD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</a:t>
            </a:r>
            <a:endParaRPr lang="zh-CN" altLang="en-US" sz="1100" dirty="0">
              <a:solidFill>
                <a:srgbClr val="E9DDE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29600" y="6217920"/>
            <a:ext cx="315468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oundRect">
            <a:avLst>
              <a:gd name="adj" fmla="val 70588"/>
            </a:avLst>
          </a:prstGeom>
          <a:solidFill>
            <a:srgbClr val="702D42"/>
          </a:solidFill>
          <a:ln w="12700">
            <a:solidFill>
              <a:srgbClr val="702D4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01168"/>
            <a:ext cx="64008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D6B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福建理工大学  /  本科毕业设计开题答辩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01400" y="201168"/>
            <a:ext cx="51206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702D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702D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研究背景与研究目标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307592"/>
            <a:ext cx="10972800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D6B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在限定桌面场景中验证视觉引导机器人搬运的完整程序链路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746504"/>
            <a:ext cx="11201400" cy="0"/>
          </a:xfrm>
          <a:prstGeom prst="line">
            <a:avLst/>
          </a:prstGeom>
          <a:noFill/>
          <a:ln w="12700">
            <a:solidFill>
              <a:srgbClr val="D9CFD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993392"/>
            <a:ext cx="3511296" cy="2350008"/>
          </a:xfrm>
          <a:prstGeom prst="roundRect">
            <a:avLst>
              <a:gd name="adj" fmla="val 4669"/>
            </a:avLst>
          </a:prstGeom>
          <a:solidFill>
            <a:srgbClr val="FFFFFF"/>
          </a:solidFill>
          <a:ln w="10160">
            <a:solidFill>
              <a:srgbClr val="D9CF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993392"/>
            <a:ext cx="73152" cy="2350008"/>
          </a:xfrm>
          <a:prstGeom prst="roundRect">
            <a:avLst>
              <a:gd name="adj" fmla="val 150000"/>
            </a:avLst>
          </a:prstGeom>
          <a:solidFill>
            <a:srgbClr val="702D42"/>
          </a:solidFill>
          <a:ln w="12700">
            <a:solidFill>
              <a:srgbClr val="702D4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176272"/>
            <a:ext cx="64008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702D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2578608"/>
            <a:ext cx="3090672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B2A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传统固定轨迹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49808" y="3072384"/>
            <a:ext cx="3081528" cy="11155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D6B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依赖预设物料位置；当摆放位置变化时，往往需要重新调整参数或动作。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34256" y="1993392"/>
            <a:ext cx="3511296" cy="2350008"/>
          </a:xfrm>
          <a:prstGeom prst="roundRect">
            <a:avLst>
              <a:gd name="adj" fmla="val 4669"/>
            </a:avLst>
          </a:prstGeom>
          <a:solidFill>
            <a:srgbClr val="FFFFFF"/>
          </a:solidFill>
          <a:ln w="10160">
            <a:solidFill>
              <a:srgbClr val="D9CFD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34256" y="1993392"/>
            <a:ext cx="73152" cy="2350008"/>
          </a:xfrm>
          <a:prstGeom prst="roundRect">
            <a:avLst>
              <a:gd name="adj" fmla="val 150000"/>
            </a:avLst>
          </a:prstGeom>
          <a:solidFill>
            <a:srgbClr val="702D42"/>
          </a:solidFill>
          <a:ln w="12700">
            <a:solidFill>
              <a:srgbClr val="702D4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3712" y="2176272"/>
            <a:ext cx="64008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702D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53712" y="2578608"/>
            <a:ext cx="3090672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B2A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引入机器视觉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53712" y="3072384"/>
            <a:ext cx="3081528" cy="11155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D6B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虚拟相机获取图像，估计目标物料位置，为机械臂提供可计算的运动目标。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38160" y="1993392"/>
            <a:ext cx="3511296" cy="2350008"/>
          </a:xfrm>
          <a:prstGeom prst="roundRect">
            <a:avLst>
              <a:gd name="adj" fmla="val 4669"/>
            </a:avLst>
          </a:prstGeom>
          <a:solidFill>
            <a:srgbClr val="FFFFFF"/>
          </a:solidFill>
          <a:ln w="10160">
            <a:solidFill>
              <a:srgbClr val="D9CFD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1993392"/>
            <a:ext cx="73152" cy="2350008"/>
          </a:xfrm>
          <a:prstGeom prst="roundRect">
            <a:avLst>
              <a:gd name="adj" fmla="val 150000"/>
            </a:avLst>
          </a:prstGeom>
          <a:solidFill>
            <a:srgbClr val="702D42"/>
          </a:solidFill>
          <a:ln w="12700">
            <a:solidFill>
              <a:srgbClr val="702D4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57616" y="2176272"/>
            <a:ext cx="64008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702D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57616" y="2578608"/>
            <a:ext cx="3090672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B2A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本课题目标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357616" y="3072384"/>
            <a:ext cx="3081528" cy="11155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D6B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结合视觉检测、坐标转换与运动规划，实现可重复运行、可测试的仿真搬运流程。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30352" y="4727448"/>
            <a:ext cx="11119104" cy="1143000"/>
          </a:xfrm>
          <a:prstGeom prst="roundRect">
            <a:avLst>
              <a:gd name="adj" fmla="val 9600"/>
            </a:avLst>
          </a:prstGeom>
          <a:solidFill>
            <a:srgbClr val="EDE2E5"/>
          </a:solidFill>
          <a:ln w="12700">
            <a:solidFill>
              <a:srgbClr val="EDE2E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" y="4974336"/>
            <a:ext cx="1280160" cy="356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702D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研究范围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139696" y="4937760"/>
            <a:ext cx="8961120" cy="4663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B2A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单机械臂｜固定相机｜指定颜色物料｜固定工作平面｜不要求实体硬件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oundRect">
            <a:avLst>
              <a:gd name="adj" fmla="val 70588"/>
            </a:avLst>
          </a:prstGeom>
          <a:solidFill>
            <a:srgbClr val="702D42"/>
          </a:solidFill>
          <a:ln w="12700">
            <a:solidFill>
              <a:srgbClr val="702D4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01168"/>
            <a:ext cx="64008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D6B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福建理工大学  /  本科毕业设计开题答辩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01400" y="201168"/>
            <a:ext cx="51206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702D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702D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系统总体方案与技术路线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307592"/>
            <a:ext cx="10972800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D6B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图像获取 → 位置估计 → 规划与执行 → 状态管理与验证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746504"/>
            <a:ext cx="11201400" cy="0"/>
          </a:xfrm>
          <a:prstGeom prst="line">
            <a:avLst/>
          </a:prstGeom>
          <a:noFill/>
          <a:ln w="12700">
            <a:solidFill>
              <a:srgbClr val="D9CFD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2103120"/>
            <a:ext cx="2121408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D9CF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2103120"/>
            <a:ext cx="2121408" cy="128016"/>
          </a:xfrm>
          <a:prstGeom prst="roundRect">
            <a:avLst>
              <a:gd name="adj" fmla="val 85714"/>
            </a:avLst>
          </a:prstGeom>
          <a:solidFill>
            <a:srgbClr val="702D42"/>
          </a:solidFill>
          <a:ln w="12700">
            <a:solidFill>
              <a:srgbClr val="702D4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432304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702D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907792"/>
            <a:ext cx="1783080" cy="356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B2A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仿真场景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5800" y="3493008"/>
            <a:ext cx="1847088" cy="6035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6D6B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Gazebo Harmonic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6D6B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Panda / 物料 / 相机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2578608" y="2834640"/>
            <a:ext cx="36576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702D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2834640" y="2103120"/>
            <a:ext cx="2121408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D9CFD3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2834640" y="2103120"/>
            <a:ext cx="2121408" cy="128016"/>
          </a:xfrm>
          <a:prstGeom prst="roundRect">
            <a:avLst>
              <a:gd name="adj" fmla="val 85714"/>
            </a:avLst>
          </a:prstGeom>
          <a:solidFill>
            <a:srgbClr val="702D42"/>
          </a:solidFill>
          <a:ln w="12700">
            <a:solidFill>
              <a:srgbClr val="702D4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44952" y="2432304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702D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044952" y="2907792"/>
            <a:ext cx="1783080" cy="356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B2A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视觉检测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008757" y="3414903"/>
            <a:ext cx="1847088" cy="6035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80000"/>
          </a:bodyPr>
          <a:lstStyle/>
          <a:p>
            <a:pPr marL="0" indent="0">
              <a:buNone/>
            </a:pPr>
            <a:r>
              <a:rPr lang="zh-CN" altLang="en-US" sz="1140" dirty="0"/>
              <a:t>通过 </a:t>
            </a:r>
            <a:r>
              <a:rPr lang="en-US" altLang="zh-CN" sz="1140" dirty="0"/>
              <a:t>Gazebo </a:t>
            </a:r>
            <a:r>
              <a:rPr lang="zh-CN" altLang="en-US" sz="1140" dirty="0"/>
              <a:t>虚拟相机采集物料图像，经 </a:t>
            </a:r>
            <a:r>
              <a:rPr lang="en-US" altLang="zh-CN" sz="1140" dirty="0"/>
              <a:t>ros_gz_bridge </a:t>
            </a:r>
            <a:r>
              <a:rPr lang="zh-CN" altLang="en-US" sz="1140" dirty="0"/>
              <a:t>桥接至 </a:t>
            </a:r>
            <a:r>
              <a:rPr lang="en-US" altLang="zh-CN" sz="1140" dirty="0"/>
              <a:t>ROS 2，</a:t>
            </a:r>
            <a:r>
              <a:rPr lang="zh-CN" altLang="en-US" sz="1140" dirty="0"/>
              <a:t>再利用 </a:t>
            </a:r>
            <a:r>
              <a:rPr lang="en-US" altLang="zh-CN" sz="1140" dirty="0"/>
              <a:t>OpenCV </a:t>
            </a:r>
            <a:r>
              <a:rPr lang="zh-CN" altLang="en-US" sz="1140" dirty="0"/>
              <a:t>进行颜色分割与轮廓检测，计算物料的图像中心坐标。</a:t>
            </a:r>
            <a:endParaRPr lang="zh-CN" altLang="en-US" sz="1140" dirty="0"/>
          </a:p>
        </p:txBody>
      </p:sp>
      <p:sp>
        <p:nvSpPr>
          <p:cNvPr id="19" name="Text 17"/>
          <p:cNvSpPr/>
          <p:nvPr/>
        </p:nvSpPr>
        <p:spPr>
          <a:xfrm>
            <a:off x="4937760" y="2834640"/>
            <a:ext cx="36576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702D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300" dirty="0"/>
          </a:p>
        </p:txBody>
      </p:sp>
      <p:sp>
        <p:nvSpPr>
          <p:cNvPr id="20" name="Shape 18"/>
          <p:cNvSpPr/>
          <p:nvPr/>
        </p:nvSpPr>
        <p:spPr>
          <a:xfrm>
            <a:off x="5193792" y="2103120"/>
            <a:ext cx="2121408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D9CFD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93792" y="2103120"/>
            <a:ext cx="2121408" cy="128016"/>
          </a:xfrm>
          <a:prstGeom prst="roundRect">
            <a:avLst>
              <a:gd name="adj" fmla="val 85714"/>
            </a:avLst>
          </a:prstGeom>
          <a:solidFill>
            <a:srgbClr val="702D42"/>
          </a:solidFill>
          <a:ln w="12700">
            <a:solidFill>
              <a:srgbClr val="702D42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04104" y="2432304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702D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04104" y="2907792"/>
            <a:ext cx="1783080" cy="356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B2A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坐标映射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404104" y="3493008"/>
            <a:ext cx="1847088" cy="6035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10000"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6D6B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像素→工作平面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6D6B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TF2 坐标转换</a:t>
            </a:r>
            <a:endParaRPr lang="en-US" sz="1140" dirty="0">
              <a:solidFill>
                <a:srgbClr val="6D6B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zh-CN" altLang="en-US" sz="1140" dirty="0">
                <a:solidFill>
                  <a:srgbClr val="6D6B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通过上一步的信息，计算出这里的坐标，为下一步做</a:t>
            </a:r>
            <a:r>
              <a:rPr lang="zh-CN" altLang="en-US" sz="1140" dirty="0">
                <a:solidFill>
                  <a:srgbClr val="6D6B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准备</a:t>
            </a:r>
            <a:endParaRPr lang="zh-CN" altLang="en-US" sz="1140" dirty="0">
              <a:solidFill>
                <a:srgbClr val="6D6B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296912" y="2834640"/>
            <a:ext cx="36576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702D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300" dirty="0"/>
          </a:p>
        </p:txBody>
      </p:sp>
      <p:sp>
        <p:nvSpPr>
          <p:cNvPr id="26" name="Shape 24"/>
          <p:cNvSpPr/>
          <p:nvPr/>
        </p:nvSpPr>
        <p:spPr>
          <a:xfrm>
            <a:off x="7552944" y="2103120"/>
            <a:ext cx="2121408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D9CFD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52944" y="2103120"/>
            <a:ext cx="2121408" cy="128016"/>
          </a:xfrm>
          <a:prstGeom prst="roundRect">
            <a:avLst>
              <a:gd name="adj" fmla="val 85714"/>
            </a:avLst>
          </a:prstGeom>
          <a:solidFill>
            <a:srgbClr val="702D42"/>
          </a:solidFill>
          <a:ln w="12700">
            <a:solidFill>
              <a:srgbClr val="702D42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63256" y="2432304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702D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763256" y="2907792"/>
            <a:ext cx="1783080" cy="356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B2A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运动规划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763256" y="3493008"/>
            <a:ext cx="1847088" cy="6035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6D6B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MoveIt 2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6D6B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目标位姿与路径</a:t>
            </a:r>
            <a:endParaRPr lang="en-US" sz="1140" dirty="0"/>
          </a:p>
        </p:txBody>
      </p:sp>
      <p:sp>
        <p:nvSpPr>
          <p:cNvPr id="31" name="Text 29"/>
          <p:cNvSpPr/>
          <p:nvPr/>
        </p:nvSpPr>
        <p:spPr>
          <a:xfrm>
            <a:off x="9656064" y="2834640"/>
            <a:ext cx="36576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702D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300" dirty="0"/>
          </a:p>
        </p:txBody>
      </p:sp>
      <p:sp>
        <p:nvSpPr>
          <p:cNvPr id="32" name="Shape 30"/>
          <p:cNvSpPr/>
          <p:nvPr/>
        </p:nvSpPr>
        <p:spPr>
          <a:xfrm>
            <a:off x="9912096" y="2103120"/>
            <a:ext cx="2121408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D9CFD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12096" y="2103120"/>
            <a:ext cx="2121408" cy="128016"/>
          </a:xfrm>
          <a:prstGeom prst="roundRect">
            <a:avLst>
              <a:gd name="adj" fmla="val 85714"/>
            </a:avLst>
          </a:prstGeom>
          <a:solidFill>
            <a:srgbClr val="702D42"/>
          </a:solidFill>
          <a:ln w="12700">
            <a:solidFill>
              <a:srgbClr val="702D42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22408" y="2432304"/>
            <a:ext cx="59436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702D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122408" y="2907792"/>
            <a:ext cx="1783080" cy="356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B2A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搬运验证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10122408" y="3493008"/>
            <a:ext cx="1847088" cy="6035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6D6B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轨迹执行 / 逻辑附着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6D6B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记录结果</a:t>
            </a:r>
            <a:endParaRPr lang="en-US" sz="1140" dirty="0"/>
          </a:p>
        </p:txBody>
      </p:sp>
      <p:sp>
        <p:nvSpPr>
          <p:cNvPr id="37" name="Shape 35"/>
          <p:cNvSpPr/>
          <p:nvPr/>
        </p:nvSpPr>
        <p:spPr>
          <a:xfrm>
            <a:off x="530352" y="4681728"/>
            <a:ext cx="11128248" cy="1124712"/>
          </a:xfrm>
          <a:prstGeom prst="roundRect">
            <a:avLst>
              <a:gd name="adj" fmla="val 9756"/>
            </a:avLst>
          </a:prstGeom>
          <a:solidFill>
            <a:srgbClr val="EDE2E5"/>
          </a:solidFill>
          <a:ln w="12700">
            <a:solidFill>
              <a:srgbClr val="EDE2E5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1248" y="4919472"/>
            <a:ext cx="2157984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702D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最低可演示结果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2862072" y="4873752"/>
            <a:ext cx="8348472" cy="5394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B2A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识别物料 → 求取目标坐标 → 生成并展示机械臂轨迹 → 验证搬运状态流程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047365" y="1028700"/>
            <a:ext cx="6096000" cy="5077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Gazebo </a:t>
            </a:r>
            <a:r>
              <a:rPr lang="zh-CN" altLang="en-US"/>
              <a:t>虚拟 </a:t>
            </a:r>
            <a:r>
              <a:rPr lang="en-US" altLang="zh-CN"/>
              <a:t>RGB </a:t>
            </a:r>
            <a:r>
              <a:rPr lang="zh-CN" altLang="en-US"/>
              <a:t>相机</a:t>
            </a:r>
            <a:endParaRPr lang="zh-CN" altLang="en-US"/>
          </a:p>
          <a:p>
            <a:r>
              <a:rPr lang="en-US" altLang="zh-CN"/>
              <a:t>          ↓</a:t>
            </a:r>
            <a:endParaRPr lang="en-US" altLang="zh-CN"/>
          </a:p>
          <a:p>
            <a:r>
              <a:rPr lang="en-US" altLang="zh-CN"/>
              <a:t>Gazebo Transport </a:t>
            </a:r>
            <a:r>
              <a:rPr lang="zh-CN" altLang="en-US"/>
              <a:t>发布图像</a:t>
            </a:r>
            <a:endParaRPr lang="zh-CN" altLang="en-US"/>
          </a:p>
          <a:p>
            <a:r>
              <a:rPr lang="en-US" altLang="zh-CN"/>
              <a:t>          ↓</a:t>
            </a:r>
            <a:endParaRPr lang="en-US" altLang="zh-CN"/>
          </a:p>
          <a:p>
            <a:r>
              <a:rPr lang="en-US" altLang="zh-CN"/>
              <a:t>ros_gz_bridge </a:t>
            </a:r>
            <a:r>
              <a:rPr lang="zh-CN" altLang="en-US"/>
              <a:t>消息桥接</a:t>
            </a:r>
            <a:endParaRPr lang="zh-CN" altLang="en-US"/>
          </a:p>
          <a:p>
            <a:r>
              <a:rPr lang="en-US" altLang="zh-CN"/>
              <a:t>          ↓</a:t>
            </a:r>
            <a:endParaRPr lang="en-US" altLang="zh-CN"/>
          </a:p>
          <a:p>
            <a:r>
              <a:rPr lang="en-US" altLang="zh-CN"/>
              <a:t>ROS 2 </a:t>
            </a:r>
            <a:r>
              <a:rPr lang="zh-CN" altLang="en-US"/>
              <a:t>视觉节点订阅图像</a:t>
            </a:r>
            <a:endParaRPr lang="zh-CN" altLang="en-US"/>
          </a:p>
          <a:p>
            <a:r>
              <a:rPr lang="en-US" altLang="zh-CN"/>
              <a:t>          ↓</a:t>
            </a:r>
            <a:endParaRPr lang="en-US" altLang="zh-CN"/>
          </a:p>
          <a:p>
            <a:r>
              <a:rPr lang="en-US" altLang="zh-CN"/>
              <a:t>cv_bridge </a:t>
            </a:r>
            <a:r>
              <a:rPr lang="zh-CN" altLang="en-US"/>
              <a:t>转换图像格式</a:t>
            </a:r>
            <a:endParaRPr lang="zh-CN" altLang="en-US"/>
          </a:p>
          <a:p>
            <a:r>
              <a:rPr lang="en-US" altLang="zh-CN"/>
              <a:t>          ↓</a:t>
            </a:r>
            <a:endParaRPr lang="en-US" altLang="zh-CN"/>
          </a:p>
          <a:p>
            <a:r>
              <a:rPr lang="en-US" altLang="zh-CN"/>
              <a:t>OpenCV </a:t>
            </a:r>
            <a:r>
              <a:rPr lang="zh-CN" altLang="en-US"/>
              <a:t>颜色分割与轮廓检测</a:t>
            </a:r>
            <a:endParaRPr lang="zh-CN" altLang="en-US"/>
          </a:p>
          <a:p>
            <a:r>
              <a:rPr lang="en-US" altLang="zh-CN"/>
              <a:t>          ↓</a:t>
            </a:r>
            <a:endParaRPr lang="en-US" altLang="zh-CN"/>
          </a:p>
          <a:p>
            <a:r>
              <a:rPr lang="zh-CN" altLang="en-US"/>
              <a:t>计算物料中心像素坐标</a:t>
            </a:r>
            <a:endParaRPr lang="zh-CN" altLang="en-US"/>
          </a:p>
          <a:p>
            <a:r>
              <a:rPr lang="en-US" altLang="zh-CN"/>
              <a:t>          ↓</a:t>
            </a:r>
            <a:endParaRPr lang="en-US" altLang="zh-CN"/>
          </a:p>
          <a:p>
            <a:r>
              <a:rPr lang="zh-CN" altLang="en-US"/>
              <a:t>坐标映射 + </a:t>
            </a:r>
            <a:r>
              <a:rPr lang="en-US" altLang="zh-CN"/>
              <a:t>TF2(</a:t>
            </a:r>
            <a:r>
              <a:rPr lang="zh-CN" altLang="en-US"/>
              <a:t>坐标工具</a:t>
            </a:r>
            <a:r>
              <a:rPr lang="en-US" altLang="zh-CN"/>
              <a:t>)</a:t>
            </a:r>
            <a:r>
              <a:rPr lang="zh-CN" altLang="en-US"/>
              <a:t>然后</a:t>
            </a:r>
            <a:r>
              <a:rPr lang="en-US" altLang="zh-CN"/>
              <a:t>ROS2</a:t>
            </a:r>
            <a:r>
              <a:rPr lang="zh-CN" altLang="en-US"/>
              <a:t>获取当前机械臂的状态</a:t>
            </a:r>
            <a:endParaRPr lang="en-US" altLang="zh-CN"/>
          </a:p>
          <a:p>
            <a:r>
              <a:rPr lang="en-US" altLang="zh-CN"/>
              <a:t>          ↓</a:t>
            </a:r>
            <a:endParaRPr lang="en-US" altLang="zh-CN"/>
          </a:p>
          <a:p>
            <a:r>
              <a:rPr lang="en-US" altLang="zh-CN"/>
              <a:t>MoveIt 2 </a:t>
            </a:r>
            <a:r>
              <a:rPr lang="zh-CN" altLang="en-US"/>
              <a:t>运动规划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60755" y="3175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大致</a:t>
            </a:r>
            <a:r>
              <a:rPr lang="zh-CN" altLang="en-US"/>
              <a:t>想法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047365" y="1028700"/>
            <a:ext cx="6096000" cy="4246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    MoveIt 2 </a:t>
            </a:r>
            <a:r>
              <a:rPr lang="zh-CN" altLang="en-US"/>
              <a:t>运动规划</a:t>
            </a:r>
            <a:endParaRPr lang="zh-CN" altLang="en-US"/>
          </a:p>
          <a:p>
            <a:r>
              <a:rPr lang="en-US" altLang="zh-CN"/>
              <a:t>        ↓</a:t>
            </a:r>
            <a:endParaRPr lang="en-US" altLang="zh-CN"/>
          </a:p>
          <a:p>
            <a:r>
              <a:rPr lang="zh-CN" altLang="en-US"/>
              <a:t>生成 </a:t>
            </a:r>
            <a:r>
              <a:rPr lang="en-US" altLang="zh-CN"/>
              <a:t>Joint Trajectory（</a:t>
            </a:r>
            <a:r>
              <a:rPr lang="zh-CN" altLang="en-US"/>
              <a:t>关节轨迹）</a:t>
            </a:r>
            <a:endParaRPr lang="zh-CN" altLang="en-US"/>
          </a:p>
          <a:p>
            <a:r>
              <a:rPr lang="en-US" altLang="zh-CN"/>
              <a:t>        ↓</a:t>
            </a:r>
            <a:endParaRPr lang="en-US" altLang="zh-CN"/>
          </a:p>
          <a:p>
            <a:r>
              <a:rPr lang="en-US" altLang="zh-CN"/>
              <a:t>joint_trajectory_controller(ROS2</a:t>
            </a:r>
            <a:r>
              <a:rPr lang="zh-CN" altLang="en-US"/>
              <a:t>的</a:t>
            </a:r>
            <a:r>
              <a:rPr lang="zh-CN" altLang="en-US"/>
              <a:t>控制器接收</a:t>
            </a:r>
            <a:r>
              <a:rPr lang="en-US" altLang="zh-CN"/>
              <a:t>Movelt2</a:t>
            </a:r>
            <a:r>
              <a:rPr lang="zh-CN" altLang="en-US"/>
              <a:t>生成轨迹并计算各关节控制命令</a:t>
            </a:r>
            <a:r>
              <a:rPr lang="en-US" altLang="zh-CN"/>
              <a:t>)</a:t>
            </a:r>
            <a:endParaRPr lang="zh-CN" altLang="en-US"/>
          </a:p>
          <a:p>
            <a:r>
              <a:rPr lang="en-US" altLang="zh-CN"/>
              <a:t>        ↓</a:t>
            </a:r>
            <a:endParaRPr lang="en-US" altLang="zh-CN"/>
          </a:p>
          <a:p>
            <a:r>
              <a:rPr lang="en-US" altLang="zh-CN"/>
              <a:t>   ros2_control / gz_ros2_control(Gazebo</a:t>
            </a:r>
            <a:r>
              <a:rPr lang="zh-CN" altLang="en-US"/>
              <a:t>仿真</a:t>
            </a:r>
            <a:r>
              <a:rPr lang="zh-CN" altLang="en-US"/>
              <a:t>插件将上面</a:t>
            </a:r>
            <a:r>
              <a:rPr lang="zh-CN" altLang="en-US"/>
              <a:t>的控制命令作用到 </a:t>
            </a:r>
            <a:r>
              <a:rPr lang="en-US" altLang="zh-CN"/>
              <a:t>Gazebo </a:t>
            </a:r>
            <a:r>
              <a:rPr lang="zh-CN" altLang="en-US"/>
              <a:t>中的机械臂关节</a:t>
            </a:r>
            <a:r>
              <a:rPr lang="en-US" altLang="zh-CN"/>
              <a:t>)</a:t>
            </a:r>
            <a:endParaRPr lang="zh-CN" altLang="en-US"/>
          </a:p>
          <a:p>
            <a:r>
              <a:rPr lang="en-US" altLang="zh-CN"/>
              <a:t>        ↓</a:t>
            </a:r>
            <a:endParaRPr lang="en-US" altLang="zh-CN"/>
          </a:p>
          <a:p>
            <a:r>
              <a:rPr lang="en-US" altLang="zh-CN"/>
              <a:t>Gazebo </a:t>
            </a:r>
            <a:r>
              <a:rPr lang="zh-CN" altLang="en-US"/>
              <a:t>中的 </a:t>
            </a:r>
            <a:r>
              <a:rPr lang="en-US" altLang="zh-CN"/>
              <a:t>Panda </a:t>
            </a:r>
            <a:r>
              <a:rPr lang="zh-CN" altLang="en-US"/>
              <a:t>机械臂模型</a:t>
            </a:r>
            <a:endParaRPr lang="zh-CN" altLang="en-US"/>
          </a:p>
          <a:p>
            <a:r>
              <a:rPr lang="en-US" altLang="zh-CN"/>
              <a:t>        ↓</a:t>
            </a:r>
            <a:endParaRPr lang="en-US" altLang="zh-CN"/>
          </a:p>
          <a:p>
            <a:r>
              <a:rPr lang="zh-CN" altLang="en-US"/>
              <a:t>   机械臂关节在仿真中运动</a:t>
            </a:r>
            <a:endParaRPr lang="zh-CN" altLang="en-US"/>
          </a:p>
          <a:p>
            <a:r>
              <a:rPr lang="en-US" altLang="zh-CN"/>
              <a:t>        ↓</a:t>
            </a:r>
            <a:endParaRPr lang="en-US" altLang="zh-CN"/>
          </a:p>
          <a:p>
            <a:r>
              <a:rPr lang="zh-CN" altLang="en-US"/>
              <a:t>反馈 </a:t>
            </a:r>
            <a:r>
              <a:rPr lang="en-US" altLang="zh-CN"/>
              <a:t>joint_states </a:t>
            </a:r>
            <a:r>
              <a:rPr lang="zh-CN" altLang="en-US"/>
              <a:t>到 </a:t>
            </a:r>
            <a:r>
              <a:rPr lang="en-US" altLang="zh-CN"/>
              <a:t>ROS 2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95985" y="4387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大致</a:t>
            </a:r>
            <a:r>
              <a:rPr lang="zh-CN" altLang="en-US"/>
              <a:t>想法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oundRect">
            <a:avLst>
              <a:gd name="adj" fmla="val 70588"/>
            </a:avLst>
          </a:prstGeom>
          <a:solidFill>
            <a:srgbClr val="702D42"/>
          </a:solidFill>
          <a:ln w="12700">
            <a:solidFill>
              <a:srgbClr val="702D4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01168"/>
            <a:ext cx="64008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D6B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福建理工大学  /  本科毕业设计开题答辩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01400" y="201168"/>
            <a:ext cx="51206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702D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702D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关键技术、实现难点与应对方案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307592"/>
            <a:ext cx="10972800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D6B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先跑通官方示例，再逐一增加模块；物理抓取不作为唯一验收标准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746504"/>
            <a:ext cx="11201400" cy="0"/>
          </a:xfrm>
          <a:prstGeom prst="line">
            <a:avLst/>
          </a:prstGeom>
          <a:noFill/>
          <a:ln w="12700">
            <a:solidFill>
              <a:srgbClr val="D9CFD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993392"/>
            <a:ext cx="11173968" cy="502920"/>
          </a:xfrm>
          <a:prstGeom prst="roundRect">
            <a:avLst>
              <a:gd name="adj" fmla="val 21818"/>
            </a:avLst>
          </a:prstGeom>
          <a:solidFill>
            <a:srgbClr val="702D42"/>
          </a:solidFill>
          <a:ln w="12700">
            <a:solidFill>
              <a:srgbClr val="702D4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84832"/>
            <a:ext cx="230428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关键环节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07792" y="208483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拟采用的方法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82128" y="2084832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难度与验证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496312"/>
            <a:ext cx="11173968" cy="566928"/>
          </a:xfrm>
          <a:prstGeom prst="roundRect">
            <a:avLst>
              <a:gd name="adj" fmla="val 19355"/>
            </a:avLst>
          </a:prstGeom>
          <a:solidFill>
            <a:srgbClr val="F1EBED"/>
          </a:solidFill>
          <a:ln w="12700">
            <a:solidFill>
              <a:srgbClr val="F1EBE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578608"/>
            <a:ext cx="230428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2B2A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物料识别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2907792" y="2578608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2B2A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OpenCV：HSV 阈值、轮廓中心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7882128" y="2578608"/>
            <a:ext cx="36118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2B2A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低｜独立图像测试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502920" y="3063240"/>
            <a:ext cx="11173968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145536"/>
            <a:ext cx="230428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2B2A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坐标转换</a:t>
            </a:r>
            <a:endParaRPr lang="en-US" sz="1280" dirty="0"/>
          </a:p>
        </p:txBody>
      </p:sp>
      <p:sp>
        <p:nvSpPr>
          <p:cNvPr id="18" name="Text 16"/>
          <p:cNvSpPr/>
          <p:nvPr/>
        </p:nvSpPr>
        <p:spPr>
          <a:xfrm>
            <a:off x="2907792" y="3145536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2B2A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已知平面标定 + TF2</a:t>
            </a:r>
            <a:endParaRPr lang="en-US" sz="1230" dirty="0"/>
          </a:p>
        </p:txBody>
      </p:sp>
      <p:sp>
        <p:nvSpPr>
          <p:cNvPr id="19" name="Text 17"/>
          <p:cNvSpPr/>
          <p:nvPr/>
        </p:nvSpPr>
        <p:spPr>
          <a:xfrm>
            <a:off x="7882128" y="3145536"/>
            <a:ext cx="36118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2B2A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中｜与仿真真值对照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502920" y="3630168"/>
            <a:ext cx="11173968" cy="566928"/>
          </a:xfrm>
          <a:prstGeom prst="roundRect">
            <a:avLst>
              <a:gd name="adj" fmla="val 19355"/>
            </a:avLst>
          </a:prstGeom>
          <a:solidFill>
            <a:srgbClr val="F1EBED"/>
          </a:solidFill>
          <a:ln w="12700">
            <a:solidFill>
              <a:srgbClr val="F1EBE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712464"/>
            <a:ext cx="230428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2B2A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机械臂规划</a:t>
            </a:r>
            <a:endParaRPr lang="en-US" sz="1280" dirty="0"/>
          </a:p>
        </p:txBody>
      </p:sp>
      <p:sp>
        <p:nvSpPr>
          <p:cNvPr id="22" name="Text 20"/>
          <p:cNvSpPr/>
          <p:nvPr/>
        </p:nvSpPr>
        <p:spPr>
          <a:xfrm>
            <a:off x="2907792" y="3712464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2B2A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MoveIt 2 示例与目标位姿</a:t>
            </a:r>
            <a:endParaRPr lang="en-US" sz="1230" dirty="0"/>
          </a:p>
        </p:txBody>
      </p:sp>
      <p:sp>
        <p:nvSpPr>
          <p:cNvPr id="23" name="Text 21"/>
          <p:cNvSpPr/>
          <p:nvPr/>
        </p:nvSpPr>
        <p:spPr>
          <a:xfrm>
            <a:off x="7882128" y="3712464"/>
            <a:ext cx="36118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2B2A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中｜核对规划结果</a:t>
            </a:r>
            <a:endParaRPr lang="en-US" sz="1230" dirty="0"/>
          </a:p>
        </p:txBody>
      </p:sp>
      <p:sp>
        <p:nvSpPr>
          <p:cNvPr id="24" name="Shape 22"/>
          <p:cNvSpPr/>
          <p:nvPr/>
        </p:nvSpPr>
        <p:spPr>
          <a:xfrm>
            <a:off x="502920" y="4197096"/>
            <a:ext cx="11173968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4279392"/>
            <a:ext cx="230428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2B2A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仿真轨迹执行</a:t>
            </a:r>
            <a:endParaRPr lang="en-US" sz="1280" dirty="0"/>
          </a:p>
        </p:txBody>
      </p:sp>
      <p:sp>
        <p:nvSpPr>
          <p:cNvPr id="26" name="Text 24"/>
          <p:cNvSpPr/>
          <p:nvPr/>
        </p:nvSpPr>
        <p:spPr>
          <a:xfrm>
            <a:off x="2907792" y="4279392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2B2A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Panda 模型与 ros2_control 控制器</a:t>
            </a:r>
            <a:endParaRPr lang="en-US" sz="1230" dirty="0"/>
          </a:p>
        </p:txBody>
      </p:sp>
      <p:sp>
        <p:nvSpPr>
          <p:cNvPr id="27" name="Text 25"/>
          <p:cNvSpPr/>
          <p:nvPr/>
        </p:nvSpPr>
        <p:spPr>
          <a:xfrm>
            <a:off x="7882128" y="4279392"/>
            <a:ext cx="36118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702D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高｜先验证接口</a:t>
            </a:r>
            <a:endParaRPr lang="en-US" sz="1230" dirty="0"/>
          </a:p>
        </p:txBody>
      </p:sp>
      <p:sp>
        <p:nvSpPr>
          <p:cNvPr id="28" name="Shape 26"/>
          <p:cNvSpPr/>
          <p:nvPr/>
        </p:nvSpPr>
        <p:spPr>
          <a:xfrm>
            <a:off x="502920" y="4764024"/>
            <a:ext cx="11173968" cy="566928"/>
          </a:xfrm>
          <a:prstGeom prst="roundRect">
            <a:avLst>
              <a:gd name="adj" fmla="val 19355"/>
            </a:avLst>
          </a:prstGeom>
          <a:solidFill>
            <a:srgbClr val="F1EBED"/>
          </a:solidFill>
          <a:ln w="12700">
            <a:solidFill>
              <a:srgbClr val="F1EBE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4846320"/>
            <a:ext cx="230428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2B2A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抓取与搬运</a:t>
            </a:r>
            <a:endParaRPr lang="en-US" sz="1280" dirty="0"/>
          </a:p>
        </p:txBody>
      </p:sp>
      <p:sp>
        <p:nvSpPr>
          <p:cNvPr id="30" name="Text 28"/>
          <p:cNvSpPr/>
          <p:nvPr/>
        </p:nvSpPr>
        <p:spPr>
          <a:xfrm>
            <a:off x="2907792" y="4846320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2B2A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状态机、逻辑附着与释放</a:t>
            </a:r>
            <a:endParaRPr lang="en-US" sz="1230" dirty="0"/>
          </a:p>
        </p:txBody>
      </p:sp>
      <p:sp>
        <p:nvSpPr>
          <p:cNvPr id="31" name="Text 29"/>
          <p:cNvSpPr/>
          <p:nvPr/>
        </p:nvSpPr>
        <p:spPr>
          <a:xfrm>
            <a:off x="7882128" y="4846320"/>
            <a:ext cx="36118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702D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高｜明确非物理夹取</a:t>
            </a:r>
            <a:endParaRPr lang="en-US" sz="1230" dirty="0"/>
          </a:p>
        </p:txBody>
      </p:sp>
      <p:sp>
        <p:nvSpPr>
          <p:cNvPr id="32" name="Shape 30"/>
          <p:cNvSpPr/>
          <p:nvPr/>
        </p:nvSpPr>
        <p:spPr>
          <a:xfrm>
            <a:off x="502920" y="5632704"/>
            <a:ext cx="11173968" cy="576072"/>
          </a:xfrm>
          <a:prstGeom prst="roundRect">
            <a:avLst>
              <a:gd name="adj" fmla="val 19048"/>
            </a:avLst>
          </a:prstGeom>
          <a:solidFill>
            <a:srgbClr val="EDE2E5"/>
          </a:solidFill>
          <a:ln w="12700">
            <a:solidFill>
              <a:srgbClr val="EDE2E5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" y="5751576"/>
            <a:ext cx="10634472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702D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风险底线：如 Gazebo 物理夹取联调困难，优先完成视觉定位、规划轨迹与明确标注的逻辑搬运演示。</a:t>
            </a:r>
            <a:endParaRPr lang="en-US" sz="12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oundRect">
            <a:avLst>
              <a:gd name="adj" fmla="val 70588"/>
            </a:avLst>
          </a:prstGeom>
          <a:solidFill>
            <a:srgbClr val="702D42"/>
          </a:solidFill>
          <a:ln w="12700">
            <a:solidFill>
              <a:srgbClr val="702D4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01168"/>
            <a:ext cx="64008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D6B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福建理工大学  /  本科毕业设计开题答辩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01400" y="201168"/>
            <a:ext cx="51206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702D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1064240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702D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研究进度与预期成果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307592"/>
            <a:ext cx="10972800" cy="3383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D6B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毕业设计周期：2026.9.23—2027.5.20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746504"/>
            <a:ext cx="11201400" cy="0"/>
          </a:xfrm>
          <a:prstGeom prst="line">
            <a:avLst/>
          </a:prstGeom>
          <a:noFill/>
          <a:ln w="12700">
            <a:solidFill>
              <a:srgbClr val="D9CFD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761488"/>
            <a:ext cx="10698480" cy="0"/>
          </a:xfrm>
          <a:prstGeom prst="line">
            <a:avLst/>
          </a:prstGeom>
          <a:noFill/>
          <a:ln w="38100">
            <a:solidFill>
              <a:srgbClr val="D9CF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2697480"/>
            <a:ext cx="100584" cy="100584"/>
          </a:xfrm>
          <a:prstGeom prst="ellipse">
            <a:avLst/>
          </a:prstGeom>
          <a:solidFill>
            <a:srgbClr val="702D42"/>
          </a:solidFill>
          <a:ln w="12700">
            <a:solidFill>
              <a:srgbClr val="702D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057400"/>
            <a:ext cx="2057400" cy="356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02D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2026.09—10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" y="3035808"/>
            <a:ext cx="2057400" cy="777240"/>
          </a:xfrm>
          <a:prstGeom prst="roundRect">
            <a:avLst>
              <a:gd name="adj" fmla="val 14118"/>
            </a:avLst>
          </a:prstGeom>
          <a:solidFill>
            <a:srgbClr val="EDE2E5"/>
          </a:solidFill>
          <a:ln w="10160">
            <a:solidFill>
              <a:srgbClr val="D9CF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3227832"/>
            <a:ext cx="1892808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A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方案与开题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538728" y="2697480"/>
            <a:ext cx="100584" cy="100584"/>
          </a:xfrm>
          <a:prstGeom prst="ellipse">
            <a:avLst/>
          </a:prstGeom>
          <a:solidFill>
            <a:srgbClr val="702D42"/>
          </a:solidFill>
          <a:ln w="12700">
            <a:solidFill>
              <a:srgbClr val="702D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35224" y="2057400"/>
            <a:ext cx="2057400" cy="356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02D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2026.11—12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935224" y="3035808"/>
            <a:ext cx="20574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0160">
            <a:solidFill>
              <a:srgbClr val="D9CF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0" y="3227832"/>
            <a:ext cx="1892808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A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环境与仿真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852160" y="2697480"/>
            <a:ext cx="100584" cy="100584"/>
          </a:xfrm>
          <a:prstGeom prst="ellipse">
            <a:avLst/>
          </a:prstGeom>
          <a:solidFill>
            <a:srgbClr val="702D42"/>
          </a:solidFill>
          <a:ln w="12700">
            <a:solidFill>
              <a:srgbClr val="702D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48656" y="2057400"/>
            <a:ext cx="2057400" cy="356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02D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2027.01—02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48656" y="3035808"/>
            <a:ext cx="2057400" cy="777240"/>
          </a:xfrm>
          <a:prstGeom prst="roundRect">
            <a:avLst>
              <a:gd name="adj" fmla="val 14118"/>
            </a:avLst>
          </a:prstGeom>
          <a:solidFill>
            <a:srgbClr val="EDE2E5"/>
          </a:solidFill>
          <a:ln w="10160">
            <a:solidFill>
              <a:srgbClr val="D9CF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30952" y="3227832"/>
            <a:ext cx="1892808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A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视觉与坐标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165592" y="2697480"/>
            <a:ext cx="100584" cy="100584"/>
          </a:xfrm>
          <a:prstGeom prst="ellipse">
            <a:avLst/>
          </a:prstGeom>
          <a:solidFill>
            <a:srgbClr val="702D42"/>
          </a:solidFill>
          <a:ln w="12700">
            <a:solidFill>
              <a:srgbClr val="702D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62088" y="2057400"/>
            <a:ext cx="2057400" cy="356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02D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2027.03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562088" y="3035808"/>
            <a:ext cx="20574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0160">
            <a:solidFill>
              <a:srgbClr val="D9CFD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44384" y="3227832"/>
            <a:ext cx="1892808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A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规划与集成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479024" y="2697480"/>
            <a:ext cx="100584" cy="100584"/>
          </a:xfrm>
          <a:prstGeom prst="ellipse">
            <a:avLst/>
          </a:prstGeom>
          <a:solidFill>
            <a:srgbClr val="702D42"/>
          </a:solidFill>
          <a:ln w="12700">
            <a:solidFill>
              <a:srgbClr val="702D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0" y="2057400"/>
            <a:ext cx="2057400" cy="356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02D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2027.04—05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875520" y="3035808"/>
            <a:ext cx="2057400" cy="777240"/>
          </a:xfrm>
          <a:prstGeom prst="roundRect">
            <a:avLst>
              <a:gd name="adj" fmla="val 14118"/>
            </a:avLst>
          </a:prstGeom>
          <a:solidFill>
            <a:srgbClr val="EDE2E5"/>
          </a:solidFill>
          <a:ln w="10160">
            <a:solidFill>
              <a:srgbClr val="D9CFD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57816" y="3227832"/>
            <a:ext cx="1892808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A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测试、论文、答辩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94360" y="4361688"/>
            <a:ext cx="11045952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0160">
            <a:solidFill>
              <a:srgbClr val="D9CFD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6112" y="4590288"/>
            <a:ext cx="1508760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702D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预期交付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2450592" y="4562856"/>
            <a:ext cx="8631936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2B2A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ROS 2 程序与仿真场景   /   视觉检测和坐标转换   /   规划与搬运状态机   /   测试记录与论文</a:t>
            </a:r>
            <a:endParaRPr lang="en-US" sz="1420" dirty="0"/>
          </a:p>
        </p:txBody>
      </p:sp>
      <p:sp>
        <p:nvSpPr>
          <p:cNvPr id="32" name="Text 30"/>
          <p:cNvSpPr/>
          <p:nvPr/>
        </p:nvSpPr>
        <p:spPr>
          <a:xfrm>
            <a:off x="3200400" y="6044184"/>
            <a:ext cx="5879592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02D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谢谢各位老师，欢迎批评指正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1666</Words>
  <Application>WPS 演示</Application>
  <PresentationFormat>On-screen Show (16:9)</PresentationFormat>
  <Paragraphs>218</Paragraphs>
  <Slides>7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协作机器人视觉物料搬运程序设计</dc:title>
  <dc:creator>ChatGPT</dc:creator>
  <dc:subject>福建理工大学本科毕业设计开题答辩</dc:subject>
  <cp:lastModifiedBy>.</cp:lastModifiedBy>
  <cp:revision>8</cp:revision>
  <dcterms:created xsi:type="dcterms:W3CDTF">2026-10-21T03:58:00Z</dcterms:created>
  <dcterms:modified xsi:type="dcterms:W3CDTF">2026-10-21T07:38:02Z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CE10C906FA934C5EA19EF320A88F2B0D_12</vt:lpwstr>
  </property>
  <property fmtid="{D5CDD505-2E9C-101B-9397-08002B2CF9AE}" pid="3" name="KSOProductBuildVer">
    <vt:lpwstr>2052-12.1.0.29161</vt:lpwstr>
  </property>
</Properties>
</file>